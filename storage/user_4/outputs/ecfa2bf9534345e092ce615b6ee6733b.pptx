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SHIP TO: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LABCORP SCIENTIFIC SERVICES &amp; SOLUTIONS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PRIVATE LIMITED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QUBIX BUSINESS PARK PVT. LTD. SEZ BLUE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RIDGE IT6 1ST FLR S. NO. 154/6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NEAR RAJIV GANDHI INFOTECH PARK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PUNE, Maharashtra, 411057, India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GST Reg No: 27AAKCS7755B2Z3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 State: Maharashtra,State Code: 27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Tax Invoice F20008009902 Copy</a:t>
                      </a:r>
                    </a:p>
                    <a:p>
                      <a:pPr>
                        <a:defRPr sz="1100"/>
                      </a:pPr>
                      <a:r>
                        <a:t>Page 1 of 2 Invoice Reference: 92011574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Your Reference 0250000268</a:t>
                      </a:r>
                    </a:p>
                    <a:p>
                      <a:pPr>
                        <a:defRPr sz="1100"/>
                      </a:pPr>
                      <a:r>
                        <a:t>Our Reference 699104</a:t>
                      </a:r>
                    </a:p>
                    <a:p>
                      <a:pPr>
                        <a:defRPr sz="1100"/>
                      </a:pPr>
                      <a:r>
                        <a:t>Account Clerk Devesh Harchekar</a:t>
                      </a:r>
                    </a:p>
                    <a:p>
                      <a:pPr>
                        <a:defRPr sz="1100"/>
                      </a:pPr>
                      <a:r>
                        <a:t>22 6219 7000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Invoice Date 13.12.2022</a:t>
                      </a:r>
                    </a:p>
                    <a:p>
                      <a:pPr>
                        <a:defRPr sz="1100"/>
                      </a:pPr>
                      <a:r>
                        <a:t>Customer No 4024435</a:t>
                      </a:r>
                    </a:p>
                    <a:p>
                      <a:pPr>
                        <a:defRPr sz="1100"/>
                      </a:pPr>
                      <a:r>
                        <a:t>Payment Date 12.01.2023</a:t>
                      </a:r>
                    </a:p>
                    <a:p>
                      <a:pPr>
                        <a:defRPr sz="1100"/>
                      </a:pPr>
                      <a:r>
                        <a:t>Terms of Payment 30 Days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 Code Qty UOM Unit Price Net Price</a:t>
                      </a:r>
                    </a:p>
                    <a:p>
                      <a:pPr>
                        <a:defRPr sz="1100"/>
                      </a:pPr>
                      <a:r>
                        <a:t>Description</a:t>
                      </a:r>
                    </a:p>
                    <a:p>
                      <a:pPr>
                        <a:defRPr sz="1100"/>
                      </a:pPr>
                      <a:r>
                        <a:t>1 L-CUBE 1 EA 0.00 0.00</a:t>
                      </a:r>
                    </a:p>
                    <a:p>
                      <a:pPr>
                        <a:defRPr sz="1100"/>
                      </a:pPr>
                      <a:r>
                        <a:t>Cisco Unified Border Element (CUBE) - E-</a:t>
                      </a:r>
                    </a:p>
                    <a:p>
                      <a:pPr>
                        <a:defRPr sz="1100"/>
                      </a:pPr>
                      <a:r>
                        <a:t>HSN Code: 998434</a:t>
                      </a:r>
                    </a:p>
                    <a:p>
                      <a:pPr>
                        <a:defRPr sz="1100"/>
                      </a:pPr>
                      <a:r>
                        <a:t>Order Ref: 699104 / 10 Fulfillment Date: 13.12.2022</a:t>
                      </a:r>
                    </a:p>
                    <a:p>
                      <a:pPr>
                        <a:defRPr sz="1100"/>
                      </a:pPr>
                      <a:r>
                        <a:t>IGST: 0.000%</a:t>
                      </a:r>
                    </a:p>
                    <a:p>
                      <a:pPr>
                        <a:defRPr sz="1100"/>
                      </a:pPr>
                      <a:r>
                        <a:t>Serial Numbers: ( DD214462141 )</a:t>
                      </a:r>
                    </a:p>
                    <a:p>
                      <a:pPr>
                        <a:defRPr sz="1100"/>
                      </a:pPr>
                      <a:r>
                        <a:t>2 CUBE14-T-STD 50 EA 3,476.00 173,800.00</a:t>
                      </a:r>
                    </a:p>
                    <a:p>
                      <a:pPr>
                        <a:defRPr sz="1100"/>
                      </a:pPr>
                      <a:r>
                        <a:t>CUBE V14 - 1 Standard Trunk Session Lice</a:t>
                      </a:r>
                    </a:p>
                    <a:p>
                      <a:pPr>
                        <a:defRPr sz="1100"/>
                      </a:pPr>
                      <a:r>
                        <a:t>HSN Code: 998434</a:t>
                      </a:r>
                    </a:p>
                    <a:p>
                      <a:pPr>
                        <a:defRPr sz="1100"/>
                      </a:pPr>
                      <a:r>
                        <a:t>Order Ref: 699104 / 20 Fulfillment Date: 13.12.2022</a:t>
                      </a:r>
                    </a:p>
                    <a:p>
                      <a:pPr>
                        <a:defRPr sz="1100"/>
                      </a:pPr>
                      <a:r>
                        <a:t>IGST: 0.000%</a:t>
                      </a:r>
                    </a:p>
                    <a:p>
                      <a:pPr>
                        <a:defRPr sz="1100"/>
                      </a:pPr>
                      <a:r>
                        <a:t>Serial Numbers: ( DD214463490 to DD214463539 )</a:t>
                      </a:r>
                    </a:p>
                    <a:p>
                      <a:pPr>
                        <a:defRPr sz="1100"/>
                      </a:pPr>
                      <a:r>
                        <a:t>SUPPLY TO SEZ UNIT OR SEZ DEVELOPER FOR AUTHORISED OPERATIONS</a:t>
                      </a:r>
                    </a:p>
                    <a:p>
                      <a:pPr>
                        <a:defRPr sz="1100"/>
                      </a:pPr>
                      <a:r>
                        <a:t>UNDER BOND OR LETTER OF UNDERTAKING WITHOUT PAYMENT OF</a:t>
                      </a:r>
                    </a:p>
                    <a:p>
                      <a:pPr>
                        <a:defRPr sz="1100"/>
                      </a:pPr>
                      <a:r>
                        <a:t>INTEGRATED GOODS &amp; SERVICE TAX (LUT # AD330322041212X Valid From 01.04.2022 to 31.03.2023)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NOTE: HSN Classification applicable for the main product including its parts and accessories</a:t>
                      </a:r>
                    </a:p>
                    <a:p>
                      <a:pPr>
                        <a:defRPr sz="1100"/>
                      </a:pPr>
                      <a:r>
                        <a:t>have been disclosed based on the Customs Classification Legislation.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 Total 173,800.00 INR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Bank: Account: IFSC # IBAN: SWIFT-Code</a:t>
                      </a:r>
                    </a:p>
                    <a:p>
                      <a:pPr>
                        <a:defRPr sz="1100"/>
                      </a:pPr>
                      <a:r>
                        <a:t>JPMORGAN CHASE BANK N.A. INR 5385178495 CHAS0INBX01 CHASINBX</a:t>
                      </a:r>
                    </a:p>
                    <a:p>
                      <a:pPr>
                        <a:defRPr sz="1100"/>
                      </a:pPr>
                      <a:r>
                        <a:t>Mumbai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112745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ORIGINAL FOR RECIPIENT</a:t>
            </a:r>
          </a:p>
          <a:p>
            <a:pPr>
              <a:defRPr sz="1400"/>
            </a:pPr>
            <a:r>
              <a:t>IRN Number:</a:t>
            </a:r>
          </a:p>
          <a:p>
            <a:pPr>
              <a:defRPr sz="1400"/>
            </a:pPr>
            <a:r>
              <a:t>a91eb588f370a1edbf9acaa46cce6a23e1a30346258046759f2dc0d116faf701</a:t>
            </a:r>
          </a:p>
          <a:p>
            <a:pPr>
              <a:defRPr sz="1400"/>
            </a:pPr>
            <a:r>
              <a:t>Invoice Type: SEZWOP</a:t>
            </a:r>
          </a:p>
          <a:p>
            <a:pPr>
              <a:defRPr sz="1400"/>
            </a:pPr>
            <a:r>
              <a:t>BILL TO: SHIP TO:</a:t>
            </a:r>
          </a:p>
          <a:p>
            <a:pPr>
              <a:defRPr sz="1400"/>
            </a:pPr>
            <a:r>
              <a:t>LABCORP SCIENTIFIC SERVICES &amp; SOLUTIONS LABCORP SCIENTIFIC SERVICES &amp; SOLUTIONS</a:t>
            </a:r>
          </a:p>
          <a:p>
            <a:pPr>
              <a:defRPr sz="1400"/>
            </a:pPr>
            <a:r>
              <a:t>PRIVATE LIMITED PRIVATE LIMITED</a:t>
            </a:r>
          </a:p>
          <a:p>
            <a:pPr>
              <a:defRPr sz="1400"/>
            </a:pPr>
            <a:r>
              <a:t>QUBIX BUSINESS PARK PVT. LTD. SEZ BLUE QUBIX BUSINESS PARK PVT. LTD. SEZ BLUE</a:t>
            </a:r>
          </a:p>
          <a:p>
            <a:pPr>
              <a:defRPr sz="1400"/>
            </a:pPr>
            <a:r>
              <a:t>RIDGE IT6 1ST FLR S. NO. 154/6 RIDGE IT6 1ST FLR S. NO. 154/6</a:t>
            </a:r>
          </a:p>
          <a:p>
            <a:pPr>
              <a:defRPr sz="1400"/>
            </a:pPr>
            <a:r>
              <a:t>NEAR RAJIV GANDHI INFOTECH PARK NEAR RAJIV GANDHI INFOTECH PARK</a:t>
            </a:r>
          </a:p>
          <a:p>
            <a:pPr>
              <a:defRPr sz="1400"/>
            </a:pPr>
            <a:r>
              <a:t>PUNE, Maharashtra, 411057, India PUNE, Maharashtra, 411057, India</a:t>
            </a:r>
          </a:p>
          <a:p>
            <a:pPr>
              <a:defRPr sz="1400"/>
            </a:pPr>
            <a:r>
              <a:t>GST Reg No: 27AAKCS7755B2Z3 GST Reg No: 27AAKCS7755B2Z3</a:t>
            </a:r>
          </a:p>
          <a:p>
            <a:pPr>
              <a:defRPr sz="1400"/>
            </a:pPr>
            <a:r>
              <a:t>Place of Supply: Maharashtra,State Code: 27 SP State: Maharashtra,State Code: 27</a:t>
            </a:r>
          </a:p>
          <a:p>
            <a:pPr>
              <a:defRPr sz="1400"/>
            </a:pPr>
            <a:r>
              <a:t>Tax Invoice F20008009902 Copy Your Reference 0250000268</a:t>
            </a:r>
          </a:p>
          <a:p>
            <a:pPr>
              <a:defRPr sz="1400"/>
            </a:pPr>
            <a:r>
              <a:t>Our Reference 699104</a:t>
            </a:r>
          </a:p>
          <a:p>
            <a:pPr>
              <a:defRPr sz="1400"/>
            </a:pPr>
            <a:r>
              <a:t>Page 1 of 2 Invoice Reference: 92011574</a:t>
            </a:r>
          </a:p>
          <a:p>
            <a:pPr>
              <a:defRPr sz="1400"/>
            </a:pPr>
            <a:r>
              <a:t>Invoice Date 13.12.2022 Account Clerk Devesh Harchekar</a:t>
            </a:r>
          </a:p>
          <a:p>
            <a:pPr>
              <a:defRPr sz="1400"/>
            </a:pPr>
            <a:r>
              <a:t>Customer No 4024435 22 6219 7000</a:t>
            </a:r>
          </a:p>
          <a:p>
            <a:pPr>
              <a:defRPr sz="1400"/>
            </a:pPr>
            <a:r>
              <a:t>Payment Date 12.01.2023</a:t>
            </a:r>
          </a:p>
          <a:p>
            <a:pPr>
              <a:defRPr sz="1400"/>
            </a:pPr>
            <a:r>
              <a:t>Terms of Payment 30 Days Net</a:t>
            </a:r>
          </a:p>
          <a:p>
            <a:pPr>
              <a:defRPr sz="1400"/>
            </a:pPr>
            <a:r>
              <a:t>Item Code Qty UOM Unit Price Net Price</a:t>
            </a:r>
          </a:p>
          <a:p>
            <a:pPr>
              <a:defRPr sz="1400"/>
            </a:pPr>
            <a:r>
              <a:t>Description</a:t>
            </a:r>
          </a:p>
          <a:p>
            <a:pPr>
              <a:defRPr sz="1400"/>
            </a:pPr>
            <a:r>
              <a:t>1 L-CUBE 1 EA 0.00 0.00</a:t>
            </a:r>
          </a:p>
          <a:p>
            <a:pPr>
              <a:defRPr sz="1400"/>
            </a:pPr>
            <a:r>
              <a:t>Cisco Unified Border Element (CUBE) - E-</a:t>
            </a:r>
          </a:p>
          <a:p>
            <a:pPr>
              <a:defRPr sz="1400"/>
            </a:pPr>
            <a:r>
              <a:t>HSN Code: 998434</a:t>
            </a:r>
          </a:p>
          <a:p>
            <a:pPr>
              <a:defRPr sz="1400"/>
            </a:pPr>
            <a:r>
              <a:t>Order Ref: 699104 / 10 Fulfillment Date: 13.12.2022</a:t>
            </a:r>
          </a:p>
          <a:p>
            <a:pPr>
              <a:defRPr sz="1400"/>
            </a:pPr>
            <a:r>
              <a:t>IGST: 0.000%</a:t>
            </a:r>
          </a:p>
          <a:p>
            <a:pPr>
              <a:defRPr sz="1400"/>
            </a:pPr>
            <a:r>
              <a:t>Serial Numbers: ( DD214462141 )</a:t>
            </a:r>
          </a:p>
          <a:p>
            <a:pPr>
              <a:defRPr sz="1400"/>
            </a:pPr>
            <a:r>
              <a:t>2 CUBE14-T-STD 50 EA 3,476.00 173,800.00</a:t>
            </a:r>
          </a:p>
          <a:p>
            <a:pPr>
              <a:defRPr sz="1400"/>
            </a:pPr>
            <a:r>
              <a:t>CUBE V14 - 1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Tax Invoice F20008009902 Copy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Page 2 of 2 Invoice Reference: 92011574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 Code Qty UOM Unit Price Net Price</a:t>
                      </a:r>
                    </a:p>
                    <a:p>
                      <a:pPr>
                        <a:defRPr sz="11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1127455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GST Breakdown Taxable Supply GST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 Total Excl. 173,800.00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GST 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TCS Goods 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INR 173,800.00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Paid Amount 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Payment Due 173,800.00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651760"/>
            <a:ext cx="112745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ORIGINAL FOR RECIPIENT</a:t>
            </a:r>
          </a:p>
          <a:p>
            <a:pPr>
              <a:defRPr sz="1400"/>
            </a:pPr>
            <a:r>
              <a:t>IRN Number:</a:t>
            </a:r>
          </a:p>
          <a:p>
            <a:pPr>
              <a:defRPr sz="1400"/>
            </a:pPr>
            <a:r>
              <a:t>a91eb588f370a1edbf9acaa46cce6a23e1a30346258046759f2dc0d116faf701</a:t>
            </a:r>
          </a:p>
          <a:p>
            <a:pPr>
              <a:defRPr sz="1400"/>
            </a:pPr>
            <a:r>
              <a:t>Tax Invoice F20008009902 Copy</a:t>
            </a:r>
          </a:p>
          <a:p>
            <a:pPr>
              <a:defRPr sz="1400"/>
            </a:pPr>
            <a:r>
              <a:t>Page 2 of 2 Invoice Reference: 92011574</a:t>
            </a:r>
          </a:p>
          <a:p>
            <a:pPr>
              <a:defRPr sz="1400"/>
            </a:pPr>
            <a:r>
              <a:t>Item Code Qty UOM Unit Price Net Price</a:t>
            </a:r>
          </a:p>
          <a:p>
            <a:pPr>
              <a:defRPr sz="1400"/>
            </a:pPr>
            <a:r>
              <a:t>Description</a:t>
            </a:r>
          </a:p>
          <a:p>
            <a:pPr>
              <a:defRPr sz="1400"/>
            </a:pPr>
            <a:r>
              <a:t>GST Breakdown Taxable Supply GST Sub Total Excl. 173,800.00</a:t>
            </a:r>
          </a:p>
          <a:p>
            <a:pPr>
              <a:defRPr sz="1400"/>
            </a:pPr>
            <a:r>
              <a:t>GST 0.00</a:t>
            </a:r>
          </a:p>
          <a:p>
            <a:pPr>
              <a:defRPr sz="1400"/>
            </a:pPr>
            <a:r>
              <a:t>TCS Goods 0.00</a:t>
            </a:r>
          </a:p>
          <a:p>
            <a:pPr>
              <a:defRPr sz="1400"/>
            </a:pPr>
            <a:r>
              <a:t>Total INR 173,800.00</a:t>
            </a:r>
          </a:p>
          <a:p>
            <a:pPr>
              <a:defRPr sz="1400"/>
            </a:pPr>
            <a:r>
              <a:t>Paid Amount 0.00</a:t>
            </a:r>
          </a:p>
          <a:p>
            <a:pPr>
              <a:defRPr sz="1400"/>
            </a:pPr>
            <a:r>
              <a:t>Payment Due 173,800.00</a:t>
            </a:r>
          </a:p>
          <a:p>
            <a:pPr>
              <a:defRPr sz="1400"/>
            </a:pPr>
            <a:r>
              <a:t>Amount Chargeable (in words)</a:t>
            </a:r>
          </a:p>
          <a:p>
            <a:pPr>
              <a:defRPr sz="1400"/>
            </a:pPr>
            <a:r>
              <a:t>Rs. ONE HUNDRED SEVENTY-THREE THOUSAND EIGHT HUNDRED ONLY</a:t>
            </a:r>
          </a:p>
          <a:p>
            <a:pPr>
              <a:defRPr sz="1400"/>
            </a:pPr>
            <a:r>
              <a:t>NTT's maximum liability for any single or a number of claims whatsoever arising out of or in connection with the performance of these Terms and</a:t>
            </a:r>
          </a:p>
          <a:p>
            <a:pPr>
              <a:defRPr sz="1400"/>
            </a:pPr>
            <a:r>
              <a:t>Conditions will be limited to an amount not exceeding 50% of the amount of fees and charges paid by the Purchaser to NTT under the relevant Order in</a:t>
            </a:r>
          </a:p>
          <a:p>
            <a:pPr>
              <a:defRPr sz="1400"/>
            </a:pPr>
            <a:r>
              <a:t>last 12 months.</a:t>
            </a:r>
          </a:p>
          <a:p>
            <a:pPr>
              <a:defRPr sz="1400"/>
            </a:pPr>
            <a:r>
              <a:t>NTT is not liable to the Purchaser in contract, in tort, in equity, by operation of statute (to the extent liability may be excluded by law) or otherwise for any</a:t>
            </a:r>
          </a:p>
          <a:p>
            <a:pPr>
              <a:defRPr sz="1400"/>
            </a:pPr>
            <a:r>
              <a:t>kind of indirect or consequential loss or damage, loss of opportunity, loss of revenue, loss of profit or anticipated profit, loss of contracts, loss of goodwill,</a:t>
            </a:r>
          </a:p>
          <a:p>
            <a:pPr>
              <a:defRPr sz="1400"/>
            </a:pPr>
            <a:r>
              <a:t>loss arising from business interruption or liability arising out of or in connection with pollution or contaminat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SHIP TO: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LABCORP SCIENTIFIC SERVICES &amp; SOLUTIONS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PRIVATE LIMITED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QUBIX BUSINESS PARK PVT. LTD. SEZ BLUE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RIDGE IT6 1ST FLR S. NO. 154/6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NEAR RAJIV GANDHI INFOTECH PARK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PUNE, Maharashtra, 411057, India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GST Reg No: 27AAKCS7755B2Z3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 State: Maharashtra,State Code: 27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Tax Invoice F20008009902 Copy</a:t>
                      </a:r>
                    </a:p>
                    <a:p>
                      <a:pPr>
                        <a:defRPr sz="1100"/>
                      </a:pPr>
                      <a:r>
                        <a:t>Page 1 of 2 Invoice Reference: 92011574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Your Reference 0250000268</a:t>
                      </a:r>
                    </a:p>
                    <a:p>
                      <a:pPr>
                        <a:defRPr sz="1100"/>
                      </a:pPr>
                      <a:r>
                        <a:t>Our Reference 699104</a:t>
                      </a:r>
                    </a:p>
                    <a:p>
                      <a:pPr>
                        <a:defRPr sz="1100"/>
                      </a:pPr>
                      <a:r>
                        <a:t>Account Clerk Devesh Harchekar</a:t>
                      </a:r>
                    </a:p>
                    <a:p>
                      <a:pPr>
                        <a:defRPr sz="1100"/>
                      </a:pPr>
                      <a:r>
                        <a:t>22 6219 7000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Invoice Date 13.12.2022</a:t>
                      </a:r>
                    </a:p>
                    <a:p>
                      <a:pPr>
                        <a:defRPr sz="1100"/>
                      </a:pPr>
                      <a:r>
                        <a:t>Customer No 4024435</a:t>
                      </a:r>
                    </a:p>
                    <a:p>
                      <a:pPr>
                        <a:defRPr sz="1100"/>
                      </a:pPr>
                      <a:r>
                        <a:t>Payment Date 12.01.2023</a:t>
                      </a:r>
                    </a:p>
                    <a:p>
                      <a:pPr>
                        <a:defRPr sz="1100"/>
                      </a:pPr>
                      <a:r>
                        <a:t>Terms of Payment 30 Days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 Code Qty UOM Unit Price Net Price</a:t>
                      </a:r>
                    </a:p>
                    <a:p>
                      <a:pPr>
                        <a:defRPr sz="1100"/>
                      </a:pPr>
                      <a:r>
                        <a:t>Description</a:t>
                      </a:r>
                    </a:p>
                    <a:p>
                      <a:pPr>
                        <a:defRPr sz="1100"/>
                      </a:pPr>
                      <a:r>
                        <a:t>1 L-CUBE 1 EA 0.00 0.00</a:t>
                      </a:r>
                    </a:p>
                    <a:p>
                      <a:pPr>
                        <a:defRPr sz="1100"/>
                      </a:pPr>
                      <a:r>
                        <a:t>Cisco Unified Border Element (CUBE) - E-</a:t>
                      </a:r>
                    </a:p>
                    <a:p>
                      <a:pPr>
                        <a:defRPr sz="1100"/>
                      </a:pPr>
                      <a:r>
                        <a:t>HSN Code: 998434</a:t>
                      </a:r>
                    </a:p>
                    <a:p>
                      <a:pPr>
                        <a:defRPr sz="1100"/>
                      </a:pPr>
                      <a:r>
                        <a:t>Order Ref: 699104 / 10 Fulfillment Date: 13.12.2022</a:t>
                      </a:r>
                    </a:p>
                    <a:p>
                      <a:pPr>
                        <a:defRPr sz="1100"/>
                      </a:pPr>
                      <a:r>
                        <a:t>IGST: 0.000%</a:t>
                      </a:r>
                    </a:p>
                    <a:p>
                      <a:pPr>
                        <a:defRPr sz="1100"/>
                      </a:pPr>
                      <a:r>
                        <a:t>Serial Numbers: ( DD214462141 )</a:t>
                      </a:r>
                    </a:p>
                    <a:p>
                      <a:pPr>
                        <a:defRPr sz="1100"/>
                      </a:pPr>
                      <a:r>
                        <a:t>2 CUBE14-T-STD 50 EA 3,476.00 173,800.00</a:t>
                      </a:r>
                    </a:p>
                    <a:p>
                      <a:pPr>
                        <a:defRPr sz="1100"/>
                      </a:pPr>
                      <a:r>
                        <a:t>CUBE V14 - 1 Standard Trunk Session Lice</a:t>
                      </a:r>
                    </a:p>
                    <a:p>
                      <a:pPr>
                        <a:defRPr sz="1100"/>
                      </a:pPr>
                      <a:r>
                        <a:t>HSN Code: 998434</a:t>
                      </a:r>
                    </a:p>
                    <a:p>
                      <a:pPr>
                        <a:defRPr sz="1100"/>
                      </a:pPr>
                      <a:r>
                        <a:t>Order Ref: 699104 / 20 Fulfillment Date: 13.12.2022</a:t>
                      </a:r>
                    </a:p>
                    <a:p>
                      <a:pPr>
                        <a:defRPr sz="1100"/>
                      </a:pPr>
                      <a:r>
                        <a:t>IGST: 0.000%</a:t>
                      </a:r>
                    </a:p>
                    <a:p>
                      <a:pPr>
                        <a:defRPr sz="1100"/>
                      </a:pPr>
                      <a:r>
                        <a:t>Serial Numbers: ( DD214463490 to DD214463539 )</a:t>
                      </a:r>
                    </a:p>
                    <a:p>
                      <a:pPr>
                        <a:defRPr sz="1100"/>
                      </a:pPr>
                      <a:r>
                        <a:t>SUPPLY TO SEZ UNIT OR SEZ DEVELOPER FOR AUTHORISED OPERATIONS</a:t>
                      </a:r>
                    </a:p>
                    <a:p>
                      <a:pPr>
                        <a:defRPr sz="1100"/>
                      </a:pPr>
                      <a:r>
                        <a:t>UNDER BOND OR LETTER OF UNDERTAKING WITHOUT PAYMENT OF</a:t>
                      </a:r>
                    </a:p>
                    <a:p>
                      <a:pPr>
                        <a:defRPr sz="1100"/>
                      </a:pPr>
                      <a:r>
                        <a:t>INTEGRATED GOODS &amp; SERVICE TAX (LUT # AD330322041212X Valid From 01.04.2022 to 31.03.2023)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NOTE: HSN Classification applicable for the main product including its parts and accessories</a:t>
                      </a:r>
                    </a:p>
                    <a:p>
                      <a:pPr>
                        <a:defRPr sz="1100"/>
                      </a:pPr>
                      <a:r>
                        <a:t>have been disclosed based on the Customs Classification Legislation.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 Total 173,800.00 INR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Bank: Account: IFSC # IBAN: SWIFT-Code</a:t>
                      </a:r>
                    </a:p>
                    <a:p>
                      <a:pPr>
                        <a:defRPr sz="1100"/>
                      </a:pPr>
                      <a:r>
                        <a:t>JPMORGAN CHASE BANK N.A. INR 5385178495 CHAS0INBX01 CHASINBX</a:t>
                      </a:r>
                    </a:p>
                    <a:p>
                      <a:pPr>
                        <a:defRPr sz="1100"/>
                      </a:pPr>
                      <a:r>
                        <a:t>Mumbai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112745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DUPLICATE FOR TRANSPORTER</a:t>
            </a:r>
          </a:p>
          <a:p>
            <a:pPr>
              <a:defRPr sz="1400"/>
            </a:pPr>
            <a:r>
              <a:t>IRN Number:</a:t>
            </a:r>
          </a:p>
          <a:p>
            <a:pPr>
              <a:defRPr sz="1400"/>
            </a:pPr>
            <a:r>
              <a:t>a91eb588f370a1edbf9acaa46cce6a23e1a30346258046759f2dc0d116faf701</a:t>
            </a:r>
          </a:p>
          <a:p>
            <a:pPr>
              <a:defRPr sz="1400"/>
            </a:pPr>
            <a:r>
              <a:t>Invoice Type: SEZWOP</a:t>
            </a:r>
          </a:p>
          <a:p>
            <a:pPr>
              <a:defRPr sz="1400"/>
            </a:pPr>
            <a:r>
              <a:t>BILL TO: SHIP TO:</a:t>
            </a:r>
          </a:p>
          <a:p>
            <a:pPr>
              <a:defRPr sz="1400"/>
            </a:pPr>
            <a:r>
              <a:t>LABCORP SCIENTIFIC SERVICES &amp; SOLUTIONS LABCORP SCIENTIFIC SERVICES &amp; SOLUTIONS</a:t>
            </a:r>
          </a:p>
          <a:p>
            <a:pPr>
              <a:defRPr sz="1400"/>
            </a:pPr>
            <a:r>
              <a:t>PRIVATE LIMITED PRIVATE LIMITED</a:t>
            </a:r>
          </a:p>
          <a:p>
            <a:pPr>
              <a:defRPr sz="1400"/>
            </a:pPr>
            <a:r>
              <a:t>QUBIX BUSINESS PARK PVT. LTD. SEZ BLUE QUBIX BUSINESS PARK PVT. LTD. SEZ BLUE</a:t>
            </a:r>
          </a:p>
          <a:p>
            <a:pPr>
              <a:defRPr sz="1400"/>
            </a:pPr>
            <a:r>
              <a:t>RIDGE IT6 1ST FLR S. NO. 154/6 RIDGE IT6 1ST FLR S. NO. 154/6</a:t>
            </a:r>
          </a:p>
          <a:p>
            <a:pPr>
              <a:defRPr sz="1400"/>
            </a:pPr>
            <a:r>
              <a:t>NEAR RAJIV GANDHI INFOTECH PARK NEAR RAJIV GANDHI INFOTECH PARK</a:t>
            </a:r>
          </a:p>
          <a:p>
            <a:pPr>
              <a:defRPr sz="1400"/>
            </a:pPr>
            <a:r>
              <a:t>PUNE, Maharashtra, 411057, India PUNE, Maharashtra, 411057, India</a:t>
            </a:r>
          </a:p>
          <a:p>
            <a:pPr>
              <a:defRPr sz="1400"/>
            </a:pPr>
            <a:r>
              <a:t>GST Reg No: 27AAKCS7755B2Z3 GST Reg No: 27AAKCS7755B2Z3</a:t>
            </a:r>
          </a:p>
          <a:p>
            <a:pPr>
              <a:defRPr sz="1400"/>
            </a:pPr>
            <a:r>
              <a:t>Place of Supply: Maharashtra,State Code: 27 SP State: Maharashtra,State Code: 27</a:t>
            </a:r>
          </a:p>
          <a:p>
            <a:pPr>
              <a:defRPr sz="1400"/>
            </a:pPr>
            <a:r>
              <a:t>Tax Invoice F20008009902 Copy Your Reference 0250000268</a:t>
            </a:r>
          </a:p>
          <a:p>
            <a:pPr>
              <a:defRPr sz="1400"/>
            </a:pPr>
            <a:r>
              <a:t>Our Reference 699104</a:t>
            </a:r>
          </a:p>
          <a:p>
            <a:pPr>
              <a:defRPr sz="1400"/>
            </a:pPr>
            <a:r>
              <a:t>Page 1 of 2 Invoice Reference: 92011574</a:t>
            </a:r>
          </a:p>
          <a:p>
            <a:pPr>
              <a:defRPr sz="1400"/>
            </a:pPr>
            <a:r>
              <a:t>Invoice Date 13.12.2022 Account Clerk Devesh Harchekar</a:t>
            </a:r>
          </a:p>
          <a:p>
            <a:pPr>
              <a:defRPr sz="1400"/>
            </a:pPr>
            <a:r>
              <a:t>Customer No 4024435 22 6219 7000</a:t>
            </a:r>
          </a:p>
          <a:p>
            <a:pPr>
              <a:defRPr sz="1400"/>
            </a:pPr>
            <a:r>
              <a:t>Payment Date 12.01.2023</a:t>
            </a:r>
          </a:p>
          <a:p>
            <a:pPr>
              <a:defRPr sz="1400"/>
            </a:pPr>
            <a:r>
              <a:t>Terms of Payment 30 Days Net</a:t>
            </a:r>
          </a:p>
          <a:p>
            <a:pPr>
              <a:defRPr sz="1400"/>
            </a:pPr>
            <a:r>
              <a:t>Item Code Qty UOM Unit Price Net Price</a:t>
            </a:r>
          </a:p>
          <a:p>
            <a:pPr>
              <a:defRPr sz="1400"/>
            </a:pPr>
            <a:r>
              <a:t>Description</a:t>
            </a:r>
          </a:p>
          <a:p>
            <a:pPr>
              <a:defRPr sz="1400"/>
            </a:pPr>
            <a:r>
              <a:t>1 L-CUBE 1 EA 0.00 0.00</a:t>
            </a:r>
          </a:p>
          <a:p>
            <a:pPr>
              <a:defRPr sz="1400"/>
            </a:pPr>
            <a:r>
              <a:t>Cisco Unified Border Element (CUBE) - E-</a:t>
            </a:r>
          </a:p>
          <a:p>
            <a:pPr>
              <a:defRPr sz="1400"/>
            </a:pPr>
            <a:r>
              <a:t>HSN Code: 998434</a:t>
            </a:r>
          </a:p>
          <a:p>
            <a:pPr>
              <a:defRPr sz="1400"/>
            </a:pPr>
            <a:r>
              <a:t>Order Ref: 699104 / 10 Fulfillment Date: 13.12.2022</a:t>
            </a:r>
          </a:p>
          <a:p>
            <a:pPr>
              <a:defRPr sz="1400"/>
            </a:pPr>
            <a:r>
              <a:t>IGST: 0.000%</a:t>
            </a:r>
          </a:p>
          <a:p>
            <a:pPr>
              <a:defRPr sz="1400"/>
            </a:pPr>
            <a:r>
              <a:t>Serial Numbers: ( DD214462141 )</a:t>
            </a:r>
          </a:p>
          <a:p>
            <a:pPr>
              <a:defRPr sz="1400"/>
            </a:pPr>
            <a:r>
              <a:t>2 CUBE14-T-STD 50 EA 3,476.00 173,800.00</a:t>
            </a:r>
          </a:p>
          <a:p>
            <a:pPr>
              <a:defRPr sz="1400"/>
            </a:pPr>
            <a:r>
              <a:t>CUBE V14 -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Tax Invoice F20008009902 Copy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Page 2 of 2 Invoice Reference: 92011574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 Code Qty UOM Unit Price Net Price</a:t>
                      </a:r>
                    </a:p>
                    <a:p>
                      <a:pPr>
                        <a:defRPr sz="11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1127455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GST Breakdown Taxable Supply GST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 Total Excl. 173,800.00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GST 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TCS Goods 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INR 173,800.00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Paid Amount 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Payment Due 173,800.00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651760"/>
            <a:ext cx="112745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DUPLICATE FOR TRANSPORTER</a:t>
            </a:r>
          </a:p>
          <a:p>
            <a:pPr>
              <a:defRPr sz="1400"/>
            </a:pPr>
            <a:r>
              <a:t>IRN Number:</a:t>
            </a:r>
          </a:p>
          <a:p>
            <a:pPr>
              <a:defRPr sz="1400"/>
            </a:pPr>
            <a:r>
              <a:t>a91eb588f370a1edbf9acaa46cce6a23e1a30346258046759f2dc0d116faf701</a:t>
            </a:r>
          </a:p>
          <a:p>
            <a:pPr>
              <a:defRPr sz="1400"/>
            </a:pPr>
            <a:r>
              <a:t>Tax Invoice F20008009902 Copy</a:t>
            </a:r>
          </a:p>
          <a:p>
            <a:pPr>
              <a:defRPr sz="1400"/>
            </a:pPr>
            <a:r>
              <a:t>Page 2 of 2 Invoice Reference: 92011574</a:t>
            </a:r>
          </a:p>
          <a:p>
            <a:pPr>
              <a:defRPr sz="1400"/>
            </a:pPr>
            <a:r>
              <a:t>Item Code Qty UOM Unit Price Net Price</a:t>
            </a:r>
          </a:p>
          <a:p>
            <a:pPr>
              <a:defRPr sz="1400"/>
            </a:pPr>
            <a:r>
              <a:t>Description</a:t>
            </a:r>
          </a:p>
          <a:p>
            <a:pPr>
              <a:defRPr sz="1400"/>
            </a:pPr>
            <a:r>
              <a:t>GST Breakdown Taxable Supply GST Sub Total Excl. 173,800.00</a:t>
            </a:r>
          </a:p>
          <a:p>
            <a:pPr>
              <a:defRPr sz="1400"/>
            </a:pPr>
            <a:r>
              <a:t>GST 0.00</a:t>
            </a:r>
          </a:p>
          <a:p>
            <a:pPr>
              <a:defRPr sz="1400"/>
            </a:pPr>
            <a:r>
              <a:t>TCS Goods 0.00</a:t>
            </a:r>
          </a:p>
          <a:p>
            <a:pPr>
              <a:defRPr sz="1400"/>
            </a:pPr>
            <a:r>
              <a:t>Total INR 173,800.00</a:t>
            </a:r>
          </a:p>
          <a:p>
            <a:pPr>
              <a:defRPr sz="1400"/>
            </a:pPr>
            <a:r>
              <a:t>Paid Amount 0.00</a:t>
            </a:r>
          </a:p>
          <a:p>
            <a:pPr>
              <a:defRPr sz="1400"/>
            </a:pPr>
            <a:r>
              <a:t>Payment Due 173,800.00</a:t>
            </a:r>
          </a:p>
          <a:p>
            <a:pPr>
              <a:defRPr sz="1400"/>
            </a:pPr>
            <a:r>
              <a:t>Amount Chargeable (in words)</a:t>
            </a:r>
          </a:p>
          <a:p>
            <a:pPr>
              <a:defRPr sz="1400"/>
            </a:pPr>
            <a:r>
              <a:t>Rs. ONE HUNDRED SEVENTY-THREE THOUSAND EIGHT HUNDRED ONLY</a:t>
            </a:r>
          </a:p>
          <a:p>
            <a:pPr>
              <a:defRPr sz="1400"/>
            </a:pPr>
            <a:r>
              <a:t>NTT's maximum liability for any single or a number of claims whatsoever arising out of or in connection with the performance of these Terms and</a:t>
            </a:r>
          </a:p>
          <a:p>
            <a:pPr>
              <a:defRPr sz="1400"/>
            </a:pPr>
            <a:r>
              <a:t>Conditions will be limited to an amount not exceeding 50% of the amount of fees and charges paid by the Purchaser to NTT under the relevant Order in</a:t>
            </a:r>
          </a:p>
          <a:p>
            <a:pPr>
              <a:defRPr sz="1400"/>
            </a:pPr>
            <a:r>
              <a:t>last 12 months.</a:t>
            </a:r>
          </a:p>
          <a:p>
            <a:pPr>
              <a:defRPr sz="1400"/>
            </a:pPr>
            <a:r>
              <a:t>NTT is not liable to the Purchaser in contract, in tort, in equity, by operation of statute (to the extent liability may be excluded by law) or otherwise for any</a:t>
            </a:r>
          </a:p>
          <a:p>
            <a:pPr>
              <a:defRPr sz="1400"/>
            </a:pPr>
            <a:r>
              <a:t>kind of indirect or consequential loss or damage, loss of opportunity, loss of revenue, loss of profit or anticipated profit, loss of contracts, loss of goodwill,</a:t>
            </a:r>
          </a:p>
          <a:p>
            <a:pPr>
              <a:defRPr sz="1400"/>
            </a:pPr>
            <a:r>
              <a:t>loss arising from business interruption or liability arising out of or in connection with pollution or contami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SHIP TO: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LABCORP SCIENTIFIC SERVICES &amp; SOLUTIONS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PRIVATE LIMITED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QUBIX BUSINESS PARK PVT. LTD. SEZ BLUE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RIDGE IT6 1ST FLR S. NO. 154/6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NEAR RAJIV GANDHI INFOTECH PARK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PUNE, Maharashtra, 411057, India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GST Reg No: 27AAKCS7755B2Z3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 State: Maharashtra,State Code: 27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Tax Invoice F20008009902 Copy</a:t>
                      </a:r>
                    </a:p>
                    <a:p>
                      <a:pPr>
                        <a:defRPr sz="1100"/>
                      </a:pPr>
                      <a:r>
                        <a:t>Page 1 of 2 Invoice Reference: 92011574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Your Reference 0250000268</a:t>
                      </a:r>
                    </a:p>
                    <a:p>
                      <a:pPr>
                        <a:defRPr sz="1100"/>
                      </a:pPr>
                      <a:r>
                        <a:t>Our Reference 699104</a:t>
                      </a:r>
                    </a:p>
                    <a:p>
                      <a:pPr>
                        <a:defRPr sz="1100"/>
                      </a:pPr>
                      <a:r>
                        <a:t>Account Clerk Devesh Harchekar</a:t>
                      </a:r>
                    </a:p>
                    <a:p>
                      <a:pPr>
                        <a:defRPr sz="1100"/>
                      </a:pPr>
                      <a:r>
                        <a:t>22 6219 7000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Invoice Date 13.12.2022</a:t>
                      </a:r>
                    </a:p>
                    <a:p>
                      <a:pPr>
                        <a:defRPr sz="1100"/>
                      </a:pPr>
                      <a:r>
                        <a:t>Customer No 4024435</a:t>
                      </a:r>
                    </a:p>
                    <a:p>
                      <a:pPr>
                        <a:defRPr sz="1100"/>
                      </a:pPr>
                      <a:r>
                        <a:t>Payment Date 12.01.2023</a:t>
                      </a:r>
                    </a:p>
                    <a:p>
                      <a:pPr>
                        <a:defRPr sz="1100"/>
                      </a:pPr>
                      <a:r>
                        <a:t>Terms of Payment 30 Days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 Code Qty UOM Unit Price Net Price</a:t>
                      </a:r>
                    </a:p>
                    <a:p>
                      <a:pPr>
                        <a:defRPr sz="1100"/>
                      </a:pPr>
                      <a:r>
                        <a:t>Description</a:t>
                      </a:r>
                    </a:p>
                    <a:p>
                      <a:pPr>
                        <a:defRPr sz="1100"/>
                      </a:pPr>
                      <a:r>
                        <a:t>1 L-CUBE 1 EA 0.00 0.00</a:t>
                      </a:r>
                    </a:p>
                    <a:p>
                      <a:pPr>
                        <a:defRPr sz="1100"/>
                      </a:pPr>
                      <a:r>
                        <a:t>Cisco Unified Border Element (CUBE) - E-</a:t>
                      </a:r>
                    </a:p>
                    <a:p>
                      <a:pPr>
                        <a:defRPr sz="1100"/>
                      </a:pPr>
                      <a:r>
                        <a:t>HSN Code: 998434</a:t>
                      </a:r>
                    </a:p>
                    <a:p>
                      <a:pPr>
                        <a:defRPr sz="1100"/>
                      </a:pPr>
                      <a:r>
                        <a:t>Order Ref: 699104 / 10 Fulfillment Date: 13.12.2022</a:t>
                      </a:r>
                    </a:p>
                    <a:p>
                      <a:pPr>
                        <a:defRPr sz="1100"/>
                      </a:pPr>
                      <a:r>
                        <a:t>IGST: 0.000%</a:t>
                      </a:r>
                    </a:p>
                    <a:p>
                      <a:pPr>
                        <a:defRPr sz="1100"/>
                      </a:pPr>
                      <a:r>
                        <a:t>Serial Numbers: ( DD214462141 )</a:t>
                      </a:r>
                    </a:p>
                    <a:p>
                      <a:pPr>
                        <a:defRPr sz="1100"/>
                      </a:pPr>
                      <a:r>
                        <a:t>2 CUBE14-T-STD 50 EA 3,476.00 173,800.00</a:t>
                      </a:r>
                    </a:p>
                    <a:p>
                      <a:pPr>
                        <a:defRPr sz="1100"/>
                      </a:pPr>
                      <a:r>
                        <a:t>CUBE V14 - 1 Standard Trunk Session Lice</a:t>
                      </a:r>
                    </a:p>
                    <a:p>
                      <a:pPr>
                        <a:defRPr sz="1100"/>
                      </a:pPr>
                      <a:r>
                        <a:t>HSN Code: 998434</a:t>
                      </a:r>
                    </a:p>
                    <a:p>
                      <a:pPr>
                        <a:defRPr sz="1100"/>
                      </a:pPr>
                      <a:r>
                        <a:t>Order Ref: 699104 / 20 Fulfillment Date: 13.12.2022</a:t>
                      </a:r>
                    </a:p>
                    <a:p>
                      <a:pPr>
                        <a:defRPr sz="1100"/>
                      </a:pPr>
                      <a:r>
                        <a:t>IGST: 0.000%</a:t>
                      </a:r>
                    </a:p>
                    <a:p>
                      <a:pPr>
                        <a:defRPr sz="1100"/>
                      </a:pPr>
                      <a:r>
                        <a:t>Serial Numbers: ( DD214463490 to DD214463539 )</a:t>
                      </a:r>
                    </a:p>
                    <a:p>
                      <a:pPr>
                        <a:defRPr sz="1100"/>
                      </a:pPr>
                      <a:r>
                        <a:t>SUPPLY TO SEZ UNIT OR SEZ DEVELOPER FOR AUTHORISED OPERATIONS</a:t>
                      </a:r>
                    </a:p>
                    <a:p>
                      <a:pPr>
                        <a:defRPr sz="1100"/>
                      </a:pPr>
                      <a:r>
                        <a:t>UNDER BOND OR LETTER OF UNDERTAKING WITHOUT PAYMENT OF</a:t>
                      </a:r>
                    </a:p>
                    <a:p>
                      <a:pPr>
                        <a:defRPr sz="1100"/>
                      </a:pPr>
                      <a:r>
                        <a:t>INTEGRATED GOODS &amp; SERVICE TAX (LUT # AD330322041212X Valid From 01.04.2022 to 31.03.2023)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NOTE: HSN Classification applicable for the main product including its parts and accessories</a:t>
                      </a:r>
                    </a:p>
                    <a:p>
                      <a:pPr>
                        <a:defRPr sz="1100"/>
                      </a:pPr>
                      <a:r>
                        <a:t>have been disclosed based on the Customs Classification Legislation.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 Total 173,800.00 INR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Bank: Account: IFSC # IBAN: SWIFT-Code</a:t>
                      </a:r>
                    </a:p>
                    <a:p>
                      <a:pPr>
                        <a:defRPr sz="1100"/>
                      </a:pPr>
                      <a:r>
                        <a:t>JPMORGAN CHASE BANK N.A. INR 5385178495 CHAS0INBX01 CHASINBX</a:t>
                      </a:r>
                    </a:p>
                    <a:p>
                      <a:pPr>
                        <a:defRPr sz="1100"/>
                      </a:pPr>
                      <a:r>
                        <a:t>Mumbai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1127455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TRIPLICATE FOR SUPPLIER</a:t>
            </a:r>
          </a:p>
          <a:p>
            <a:pPr>
              <a:defRPr sz="1400"/>
            </a:pPr>
            <a:r>
              <a:t>IRN Number:</a:t>
            </a:r>
          </a:p>
          <a:p>
            <a:pPr>
              <a:defRPr sz="1400"/>
            </a:pPr>
            <a:r>
              <a:t>a91eb588f370a1edbf9acaa46cce6a23e1a30346258046759f2dc0d116faf701</a:t>
            </a:r>
          </a:p>
          <a:p>
            <a:pPr>
              <a:defRPr sz="1400"/>
            </a:pPr>
            <a:r>
              <a:t>Invoice Type: SEZWOP</a:t>
            </a:r>
          </a:p>
          <a:p>
            <a:pPr>
              <a:defRPr sz="1400"/>
            </a:pPr>
            <a:r>
              <a:t>BILL TO: SHIP TO:</a:t>
            </a:r>
          </a:p>
          <a:p>
            <a:pPr>
              <a:defRPr sz="1400"/>
            </a:pPr>
            <a:r>
              <a:t>LABCORP SCIENTIFIC SERVICES &amp; SOLUTIONS LABCORP SCIENTIFIC SERVICES &amp; SOLUTIONS</a:t>
            </a:r>
          </a:p>
          <a:p>
            <a:pPr>
              <a:defRPr sz="1400"/>
            </a:pPr>
            <a:r>
              <a:t>PRIVATE LIMITED PRIVATE LIMITED</a:t>
            </a:r>
          </a:p>
          <a:p>
            <a:pPr>
              <a:defRPr sz="1400"/>
            </a:pPr>
            <a:r>
              <a:t>QUBIX BUSINESS PARK PVT. LTD. SEZ BLUE QUBIX BUSINESS PARK PVT. LTD. SEZ BLUE</a:t>
            </a:r>
          </a:p>
          <a:p>
            <a:pPr>
              <a:defRPr sz="1400"/>
            </a:pPr>
            <a:r>
              <a:t>RIDGE IT6 1ST FLR S. NO. 154/6 RIDGE IT6 1ST FLR S. NO. 154/6</a:t>
            </a:r>
          </a:p>
          <a:p>
            <a:pPr>
              <a:defRPr sz="1400"/>
            </a:pPr>
            <a:r>
              <a:t>NEAR RAJIV GANDHI INFOTECH PARK NEAR RAJIV GANDHI INFOTECH PARK</a:t>
            </a:r>
          </a:p>
          <a:p>
            <a:pPr>
              <a:defRPr sz="1400"/>
            </a:pPr>
            <a:r>
              <a:t>PUNE, Maharashtra, 411057, India PUNE, Maharashtra, 411057, India</a:t>
            </a:r>
          </a:p>
          <a:p>
            <a:pPr>
              <a:defRPr sz="1400"/>
            </a:pPr>
            <a:r>
              <a:t>GST Reg No: 27AAKCS7755B2Z3 GST Reg No: 27AAKCS7755B2Z3</a:t>
            </a:r>
          </a:p>
          <a:p>
            <a:pPr>
              <a:defRPr sz="1400"/>
            </a:pPr>
            <a:r>
              <a:t>Place of Supply: Maharashtra,State Code: 27 SP State: Maharashtra,State Code: 27</a:t>
            </a:r>
          </a:p>
          <a:p>
            <a:pPr>
              <a:defRPr sz="1400"/>
            </a:pPr>
            <a:r>
              <a:t>Tax Invoice F20008009902 Copy Your Reference 0250000268</a:t>
            </a:r>
          </a:p>
          <a:p>
            <a:pPr>
              <a:defRPr sz="1400"/>
            </a:pPr>
            <a:r>
              <a:t>Our Reference 699104</a:t>
            </a:r>
          </a:p>
          <a:p>
            <a:pPr>
              <a:defRPr sz="1400"/>
            </a:pPr>
            <a:r>
              <a:t>Page 1 of 2 Invoice Reference: 92011574</a:t>
            </a:r>
          </a:p>
          <a:p>
            <a:pPr>
              <a:defRPr sz="1400"/>
            </a:pPr>
            <a:r>
              <a:t>Invoice Date 13.12.2022 Account Clerk Devesh Harchekar</a:t>
            </a:r>
          </a:p>
          <a:p>
            <a:pPr>
              <a:defRPr sz="1400"/>
            </a:pPr>
            <a:r>
              <a:t>Customer No 4024435 22 6219 7000</a:t>
            </a:r>
          </a:p>
          <a:p>
            <a:pPr>
              <a:defRPr sz="1400"/>
            </a:pPr>
            <a:r>
              <a:t>Payment Date 12.01.2023</a:t>
            </a:r>
          </a:p>
          <a:p>
            <a:pPr>
              <a:defRPr sz="1400"/>
            </a:pPr>
            <a:r>
              <a:t>Terms of Payment 30 Days Net</a:t>
            </a:r>
          </a:p>
          <a:p>
            <a:pPr>
              <a:defRPr sz="1400"/>
            </a:pPr>
            <a:r>
              <a:t>Item Code Qty UOM Unit Price Net Price</a:t>
            </a:r>
          </a:p>
          <a:p>
            <a:pPr>
              <a:defRPr sz="1400"/>
            </a:pPr>
            <a:r>
              <a:t>Description</a:t>
            </a:r>
          </a:p>
          <a:p>
            <a:pPr>
              <a:defRPr sz="1400"/>
            </a:pPr>
            <a:r>
              <a:t>1 L-CUBE 1 EA 0.00 0.00</a:t>
            </a:r>
          </a:p>
          <a:p>
            <a:pPr>
              <a:defRPr sz="1400"/>
            </a:pPr>
            <a:r>
              <a:t>Cisco Unified Border Element (CUBE) - E-</a:t>
            </a:r>
          </a:p>
          <a:p>
            <a:pPr>
              <a:defRPr sz="1400"/>
            </a:pPr>
            <a:r>
              <a:t>HSN Code: 998434</a:t>
            </a:r>
          </a:p>
          <a:p>
            <a:pPr>
              <a:defRPr sz="1400"/>
            </a:pPr>
            <a:r>
              <a:t>Order Ref: 699104 / 10 Fulfillment Date: 13.12.2022</a:t>
            </a:r>
          </a:p>
          <a:p>
            <a:pPr>
              <a:defRPr sz="1400"/>
            </a:pPr>
            <a:r>
              <a:t>IGST: 0.000%</a:t>
            </a:r>
          </a:p>
          <a:p>
            <a:pPr>
              <a:defRPr sz="1400"/>
            </a:pPr>
            <a:r>
              <a:t>Serial Numbers: ( DD214462141 )</a:t>
            </a:r>
          </a:p>
          <a:p>
            <a:pPr>
              <a:defRPr sz="1400"/>
            </a:pPr>
            <a:r>
              <a:t>2 CUBE14-T-STD 50 EA 3,476.00 173,800.00</a:t>
            </a:r>
          </a:p>
          <a:p>
            <a:pPr>
              <a:defRPr sz="1400"/>
            </a:pPr>
            <a:r>
              <a:t>CUBE V14 - 1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Page 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7455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2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Tax Invoice F20008009902 Copy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Page 2 of 2 Invoice Reference: 92011574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Item Code Qty UOM Unit Price Net Price</a:t>
                      </a:r>
                    </a:p>
                    <a:p>
                      <a:pPr>
                        <a:defRPr sz="11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1127455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GST Breakdown Taxable Supply GST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Sub Total Excl. 173,800.00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GST 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TCS Goods 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INR 173,800.00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Paid Amount 0.00</a:t>
                      </a:r>
                    </a:p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Payment Due 173,800.00</a:t>
                      </a:r>
                    </a:p>
                  </a:txBody>
                  <a:tcPr>
                    <a:solidFill>
                      <a:srgbClr val="1F4E7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651760"/>
            <a:ext cx="11274552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TRIPLICATE FOR SUPPLIER</a:t>
            </a:r>
          </a:p>
          <a:p>
            <a:pPr>
              <a:defRPr sz="1400"/>
            </a:pPr>
            <a:r>
              <a:t>IRN Number:</a:t>
            </a:r>
          </a:p>
          <a:p>
            <a:pPr>
              <a:defRPr sz="1400"/>
            </a:pPr>
            <a:r>
              <a:t>a91eb588f370a1edbf9acaa46cce6a23e1a30346258046759f2dc0d116faf701</a:t>
            </a:r>
          </a:p>
          <a:p>
            <a:pPr>
              <a:defRPr sz="1400"/>
            </a:pPr>
            <a:r>
              <a:t>Tax Invoice F20008009902 Copy</a:t>
            </a:r>
          </a:p>
          <a:p>
            <a:pPr>
              <a:defRPr sz="1400"/>
            </a:pPr>
            <a:r>
              <a:t>Page 2 of 2 Invoice Reference: 92011574</a:t>
            </a:r>
          </a:p>
          <a:p>
            <a:pPr>
              <a:defRPr sz="1400"/>
            </a:pPr>
            <a:r>
              <a:t>Item Code Qty UOM Unit Price Net Price</a:t>
            </a:r>
          </a:p>
          <a:p>
            <a:pPr>
              <a:defRPr sz="1400"/>
            </a:pPr>
            <a:r>
              <a:t>Description</a:t>
            </a:r>
          </a:p>
          <a:p>
            <a:pPr>
              <a:defRPr sz="1400"/>
            </a:pPr>
            <a:r>
              <a:t>GST Breakdown Taxable Supply GST Sub Total Excl. 173,800.00</a:t>
            </a:r>
          </a:p>
          <a:p>
            <a:pPr>
              <a:defRPr sz="1400"/>
            </a:pPr>
            <a:r>
              <a:t>GST 0.00</a:t>
            </a:r>
          </a:p>
          <a:p>
            <a:pPr>
              <a:defRPr sz="1400"/>
            </a:pPr>
            <a:r>
              <a:t>TCS Goods 0.00</a:t>
            </a:r>
          </a:p>
          <a:p>
            <a:pPr>
              <a:defRPr sz="1400"/>
            </a:pPr>
            <a:r>
              <a:t>Total INR 173,800.00</a:t>
            </a:r>
          </a:p>
          <a:p>
            <a:pPr>
              <a:defRPr sz="1400"/>
            </a:pPr>
            <a:r>
              <a:t>Paid Amount 0.00</a:t>
            </a:r>
          </a:p>
          <a:p>
            <a:pPr>
              <a:defRPr sz="1400"/>
            </a:pPr>
            <a:r>
              <a:t>Payment Due 173,800.00</a:t>
            </a:r>
          </a:p>
          <a:p>
            <a:pPr>
              <a:defRPr sz="1400"/>
            </a:pPr>
            <a:r>
              <a:t>Amount Chargeable (in words)</a:t>
            </a:r>
          </a:p>
          <a:p>
            <a:pPr>
              <a:defRPr sz="1400"/>
            </a:pPr>
            <a:r>
              <a:t>Rs. ONE HUNDRED SEVENTY-THREE THOUSAND EIGHT HUNDRED ONLY</a:t>
            </a:r>
          </a:p>
          <a:p>
            <a:pPr>
              <a:defRPr sz="1400"/>
            </a:pPr>
            <a:r>
              <a:t>NTT's maximum liability for any single or a number of claims whatsoever arising out of or in connection with the performance of these Terms and</a:t>
            </a:r>
          </a:p>
          <a:p>
            <a:pPr>
              <a:defRPr sz="1400"/>
            </a:pPr>
            <a:r>
              <a:t>Conditions will be limited to an amount not exceeding 50% of the amount of fees and charges paid by the Purchaser to NTT under the relevant Order in</a:t>
            </a:r>
          </a:p>
          <a:p>
            <a:pPr>
              <a:defRPr sz="1400"/>
            </a:pPr>
            <a:r>
              <a:t>last 12 months.</a:t>
            </a:r>
          </a:p>
          <a:p>
            <a:pPr>
              <a:defRPr sz="1400"/>
            </a:pPr>
            <a:r>
              <a:t>NTT is not liable to the Purchaser in contract, in tort, in equity, by operation of statute (to the extent liability may be excluded by law) or otherwise for any</a:t>
            </a:r>
          </a:p>
          <a:p>
            <a:pPr>
              <a:defRPr sz="1400"/>
            </a:pPr>
            <a:r>
              <a:t>kind of indirect or consequential loss or damage, loss of opportunity, loss of revenue, loss of profit or anticipated profit, loss of contracts, loss of goodwill,</a:t>
            </a:r>
          </a:p>
          <a:p>
            <a:pPr>
              <a:defRPr sz="1400"/>
            </a:pPr>
            <a:r>
              <a:t>loss arising from business interruption or liability arising out of or in connection with pollution or contamina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