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BE1280520241840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INNSA1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3536916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AAACD9963ACH003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JNCH, NHAVA SHEVA, TAL:URAN, DIST-RAIGAD-400707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13027.63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I - BILL OF ENTRY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</a:t>
                      </a:r>
                    </a:p>
                    <a:p>
                      <a:pPr>
                        <a:defRPr sz="1100"/>
                      </a:pPr>
                      <a:r>
                        <a:t>U</a:t>
                      </a:r>
                    </a:p>
                    <a:p>
                      <a:pPr>
                        <a:defRPr sz="1100"/>
                      </a:pPr>
                      <a:r>
                        <a:t>.AA T</a:t>
                      </a:r>
                    </a:p>
                    <a:p>
                      <a:pPr>
                        <a:defRPr sz="1100"/>
                      </a:pPr>
                      <a:r>
                        <a:t>T</a:t>
                      </a:r>
                    </a:p>
                    <a:p>
                      <a:pPr>
                        <a:defRPr sz="1100"/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1.BE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3.DEF 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4.KACHA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5.SEC 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6.REIMP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7.ADV BE</a:t>
                      </a:r>
                    </a:p>
                    <a:p>
                      <a:pPr>
                        <a:defRPr sz="1100"/>
                      </a:pPr>
                      <a:r>
                        <a:t>(Y/N/P)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8.ASSESS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10.HSS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11.FIRST</a:t>
                      </a:r>
                    </a:p>
                    <a:p>
                      <a:pPr>
                        <a:defRPr sz="1100"/>
                      </a:pPr>
                      <a: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 PROV/</a:t>
                      </a:r>
                    </a:p>
                    <a:p>
                      <a:pPr>
                        <a:defRPr sz="1100"/>
                      </a:pPr>
                      <a: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13.COUNTRY OF 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14.COUNTRY OF CONSIGNMENT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15.PORT OF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Newark Apt/New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16.PORT OF SHIPMENT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Newark Apt/New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BE1280520241840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INNSA1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3536916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AAACD9963ACH003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JNCH, NHAVA SHEVA, TAL:URAN, DIST-RAIGAD-400707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13027.63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II - INVOICE &amp; VALUATION DETAILS (Invoice 1 1 )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</a:t>
                      </a:r>
                    </a:p>
                    <a:p>
                      <a:pPr>
                        <a:defRPr sz="1100"/>
                      </a:pPr>
                      <a:r>
                        <a:t>C</a:t>
                      </a:r>
                    </a:p>
                    <a:p>
                      <a:pPr>
                        <a:defRPr sz="1100"/>
                      </a:pPr>
                      <a:r>
                        <a:t>OI</a:t>
                      </a:r>
                    </a:p>
                    <a:p>
                      <a:pPr>
                        <a:defRPr sz="1100"/>
                      </a:pPr>
                      <a:r>
                        <a:t>.AV</a:t>
                      </a:r>
                    </a:p>
                    <a:p>
                      <a:pPr>
                        <a:defRPr sz="1100"/>
                      </a:pPr>
                      <a:r>
                        <a:t>N</a:t>
                      </a:r>
                    </a:p>
                    <a:p>
                      <a:pPr>
                        <a:defRPr sz="1100"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2.INVOICE NO. &amp; DT.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3.PURCHASE ORDER NO &amp; 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4.LC NO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5.CONTRACT NO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AIMSFA 04-24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01-APR-24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SEITRAP</a:t>
                      </a:r>
                    </a:p>
                    <a:p>
                      <a:pPr>
                        <a:defRPr sz="1100"/>
                      </a:pPr>
                      <a:r>
                        <a:t>B.</a:t>
                      </a:r>
                    </a:p>
                    <a:p>
                      <a:pPr>
                        <a:defRPr sz="1100"/>
                      </a:pPr>
                      <a:r>
                        <a:t>GNITCASNART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1.BUYER'S NAME &amp;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  <a:p>
                      <a:pPr>
                        <a:defRPr sz="1100"/>
                      </a:pPr>
                      <a:r>
                        <a:t>2.SELLER'S NAME &amp;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78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BE1280520241840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INNSA1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3536916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AAACD9963ACH003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JNCH, NHAVA SHEVA, TAL:URAN, DIST-RAIGAD-400707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13027.63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III - DUTIES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 SLIATED</a:t>
                      </a:r>
                    </a:p>
                    <a:p>
                      <a:pPr>
                        <a:defRPr sz="1100"/>
                      </a:pPr>
                      <a:r>
                        <a:t>E</a:t>
                      </a:r>
                    </a:p>
                    <a:p>
                      <a:pPr>
                        <a:defRPr sz="1100"/>
                      </a:pPr>
                      <a:r>
                        <a:t>T</a:t>
                      </a:r>
                    </a:p>
                    <a:p>
                      <a:pPr>
                        <a:defRPr sz="1100"/>
                      </a:pPr>
                      <a:r>
                        <a:t>I</a:t>
                      </a:r>
                    </a:p>
                    <a:p>
                      <a:pPr>
                        <a:defRPr sz="1100"/>
                      </a:pPr>
                      <a:r>
                        <a:t>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1.INVSNO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2.ITEMSN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3.CTH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4.CETH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5.ITEM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7.PQ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9.WC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10.AQ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84629000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NOEXCISE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OLD &amp; USED KOMATSU MAYPRESS MACHINE 300 TON</a:t>
                      </a:r>
                    </a:p>
                    <a:p>
                      <a:pPr>
                        <a:defRPr sz="1100"/>
                      </a:pPr>
                      <a:r>
                        <a:t>with Accessories. Model number MKN-300/8 Serial Number</a:t>
                      </a:r>
                    </a:p>
                    <a:p>
                      <a:pPr>
                        <a:defRPr sz="1100"/>
                      </a:pPr>
                      <a:r>
                        <a:t>- 9072/412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11.UPI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13.C.QTY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14.C.UQC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15.S.QTY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16.S.UQC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  <a:p>
                      <a:pPr>
                        <a:defRPr sz="1100"/>
                      </a:pPr>
                      <a:r>
                        <a:t>18.STND/PR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19.RSP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20.REIMP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21.PROV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22.END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GNX200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3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BE1280520241840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INNSA1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3536916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AAACD9963ACH003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JNCH, NHAVA SHEVA, TAL:URAN, DIST-RAIGAD-400707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13027.63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IV - ADDITIONAL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A. SVB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1.INVSNO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2.ITMSNO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3.REF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 REF 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 PRT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7.P/F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8.LOAD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9.P/F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B. PREVIOUS 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2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BE1280520241840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INNSA1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3536916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AAACD9963ACH003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JNCH, NHAVA SHEVA, TAL:URAN, DIST-RAIGAD-400707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13027.63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V - OTHER COMPLIANCES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SECNAILPMOC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A. EXAMINATION ORDER 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A1.EXAMINATION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DE-STUFF ALL CARGO AND OPEN AND EXAMINE 100% OF CARGO LOCATED IN ALL AREAS (1,2,3,4,5) FOR ALL CONTAINER AND</a:t>
                      </a:r>
                    </a:p>
                    <a:p>
                      <a:pPr>
                        <a:defRPr sz="1100"/>
                      </a:pPr>
                      <a:r>
                        <a:t>LOOK FOR CONCEALMENT, MIS-DECLARATION IN DESCRIPTION AND QUANTITY IN PRESENCE OF APPROVED CE. ENSURE</a:t>
                      </a:r>
                    </a:p>
                    <a:p>
                      <a:pPr>
                        <a:defRPr sz="1100"/>
                      </a:pPr>
                      <a:r>
                        <a:t>COMPLIANCE OF RMS CCR INSTRUCTIONS. EXAMINE GOODS W.R.T. DECLARATION RELATING TO BRAND, MAKE, QUALITY,</a:t>
                      </a:r>
                    </a:p>
                    <a:p>
                      <a:pPr>
                        <a:defRPr sz="1100"/>
                      </a:pPr>
                      <a:r>
                        <a:t>SPECIFICATIONS, QUANTITY AND UQC.~EXAMINE WRT CE REPORT ISSUED IN FORM-A OR FORM-B OF CIRCULAR 07/2020 AS</a:t>
                      </a:r>
                    </a:p>
                    <a:p>
                      <a:pPr>
                        <a:defRPr sz="1100"/>
                      </a:pPr>
                      <a:r>
                        <a:t>APPLICABLE.IF GOODS ARE ONLY PARTS/SPARES OF MACHINES, VERIFY COMPLIANCE TO PARA 2.31(C) OF FTP. VERIFY</a:t>
                      </a:r>
                    </a:p>
                    <a:p>
                      <a:pPr>
                        <a:defRPr sz="1100"/>
                      </a:pPr>
                      <a:r>
                        <a:t>DESCRIPTION AND CLASSIFICATION.VERIFY IMPORTS ARE CAPITAL GOODS ALLOWED FOR IMPORTS AS PER FTP PARA</a:t>
                      </a:r>
                    </a:p>
                    <a:p>
                      <a:pPr>
                        <a:defRPr sz="1100"/>
                      </a:pPr>
                      <a:r>
                        <a:t>2.31(D).VFY QUANTITY, MODEL, SL. NO., YOM, COO, RESIDUAL LIFE, USED, RECONDITIONED/REFURBISHED. ENSURE EPR</a:t>
                      </a:r>
                    </a:p>
                    <a:p>
                      <a:pPr>
                        <a:defRPr sz="1100"/>
                      </a:pPr>
                      <a:r>
                        <a:t>COMPLIANCE. VALUE SUGGESTED BY CE SHOULD BE ENDORSED BY IMPORTER/ ITS REPRESENTATIVE AND SHED OFFICER TO</a:t>
                      </a:r>
                    </a:p>
                    <a:p>
                      <a:pPr>
                        <a:defRPr sz="1100"/>
                      </a:pPr>
                      <a:r>
                        <a:t>STATE IN CASE THE SUGGESTED VALUE BY CE IS NOT ACCEPTABLE AS ASSESSABLE VALUE BY THE IMPORTER. By 100XXXXX on</a:t>
                      </a:r>
                    </a:p>
                    <a:p>
                      <a:pPr>
                        <a:defRPr sz="1100"/>
                      </a:pPr>
                      <a:r>
                        <a:t>17/05/2024 at 07:23P.M.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BE1280520241840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INNSA1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3536916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AAACD9963ACH003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JNCH, NHAVA SHEVA, TAL:URAN, DIST-RAIGAD-400707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13027.63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V - OTHER COMPLIANCES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SECNAILPMOC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B1. PGA EXAMINATION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 No Item No Agency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</a:t>
                      </a:r>
                    </a:p>
                    <a:p>
                      <a:pPr>
                        <a:defRPr sz="1100"/>
                      </a:pPr>
                      <a:r>
                        <a:t>G</a:t>
                      </a:r>
                    </a:p>
                    <a:p>
                      <a:pPr>
                        <a:defRPr sz="1100"/>
                      </a:pPr>
                      <a:r>
                        <a:t>R</a:t>
                      </a:r>
                    </a:p>
                    <a:p>
                      <a:pPr>
                        <a:defRPr sz="1100"/>
                      </a:pPr>
                      <a:r>
                        <a:t>A</a:t>
                      </a:r>
                    </a:p>
                    <a:p>
                      <a:pPr>
                        <a:defRPr sz="1100"/>
                      </a:pPr>
                      <a:r>
                        <a:t>H</a:t>
                      </a:r>
                    </a:p>
                    <a:p>
                      <a:pPr>
                        <a:defRPr sz="1100"/>
                      </a:pPr>
                      <a:r>
                        <a:t>Y</a:t>
                      </a:r>
                    </a:p>
                    <a:p>
                      <a:pPr>
                        <a:defRPr sz="1100"/>
                      </a:pPr>
                      <a:r>
                        <a:t>C</a:t>
                      </a:r>
                    </a:p>
                    <a:p>
                      <a:pPr>
                        <a:defRPr sz="1100"/>
                      </a:pPr>
                      <a:r>
                        <a:t>P</a:t>
                      </a:r>
                    </a:p>
                    <a:p>
                      <a:pPr>
                        <a:defRPr sz="1100"/>
                      </a:pPr>
                      <a:r>
                        <a:t>F O</a:t>
                      </a:r>
                    </a:p>
                    <a:p>
                      <a:pPr>
                        <a:defRPr sz="1100"/>
                      </a:pPr>
                      <a:r>
                        <a:t>O</a:t>
                      </a:r>
                    </a:p>
                    <a:p>
                      <a:pPr>
                        <a:defRPr sz="1100"/>
                      </a:pPr>
                      <a:r>
                        <a:t>C</a:t>
                      </a:r>
                    </a:p>
                    <a:p>
                      <a:pPr>
                        <a:defRPr sz="1100"/>
                      </a:pPr>
                      <a:r>
                        <a:t>T</a:t>
                      </a:r>
                    </a:p>
                    <a:p>
                      <a:pPr>
                        <a:defRPr sz="1100"/>
                      </a:pPr>
                      <a:r>
                        <a:t>U</a:t>
                      </a:r>
                    </a:p>
                    <a:p>
                      <a:pPr>
                        <a:defRPr sz="1100"/>
                      </a:pPr>
                      <a:r>
                        <a:t>O</a:t>
                      </a:r>
                    </a:p>
                    <a:p>
                      <a:pPr>
                        <a:defRPr sz="1100"/>
                      </a:pPr>
                      <a:r>
                        <a:t>Page 6 Of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BE1280520241840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INNSA1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3536916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AAACD9963ACH003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JNCH, NHAVA SHEVA, TAL:URAN, DIST-RAIGAD-400707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13027.63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VI - DECLARATION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TNEMETATS</a:t>
                      </a:r>
                    </a:p>
                    <a:p>
                      <a:pPr>
                        <a:defRPr sz="1100"/>
                      </a:pPr>
                      <a:r>
                        <a:t>NOITARALCED.A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Declaration for 0/0: I/We declare that the contents of the above mentioned invoice(s) and documents are true and correct in every respect.I/We</a:t>
                      </a:r>
                    </a:p>
                    <a:p>
                      <a:pPr>
                        <a:defRPr sz="1100"/>
                      </a:pPr>
                      <a:r>
                        <a:t>have not received and do not know of any other documents or information showing a different description, quantity, price, value, of the said</a:t>
                      </a:r>
                    </a:p>
                    <a:p>
                      <a:pPr>
                        <a:defRPr sz="1100"/>
                      </a:pPr>
                      <a:r>
                        <a:t>goods and that if at any time hereafter I/We discover any document / information showing different facts, I/We will immediately make the same</a:t>
                      </a:r>
                    </a:p>
                    <a:p>
                      <a:pPr>
                        <a:defRPr sz="1100"/>
                      </a:pPr>
                      <a:r>
                        <a:t>known to the Commissioner of Customs.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Declaration for 0/0: I/We declare that the contents of this Bill of Entry for goods imported against above mentioned Bill of Lading/ Airway Bill</a:t>
                      </a:r>
                    </a:p>
                    <a:p>
                      <a:pPr>
                        <a:defRPr sz="1100"/>
                      </a:pPr>
                      <a:r>
                        <a:t>/Lorry Receipt/Railway Receipt numbers are in accordance with the above mentioned invoice(s) No(s)and other documents presented herewith.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  <a:p>
                      <a:pPr>
                        <a:defRPr sz="1100"/>
                      </a:pPr>
                      <a:r>
                        <a:t>Declaration for 1/0: I/We declare that the price paid or payable by the importer is as per the details provided above, and any price paid or</a:t>
                      </a:r>
                    </a:p>
                    <a:p>
                      <a:pPr>
                        <a:defRPr sz="1100"/>
                      </a:pPr>
                      <a:r>
                        <a:t>payable in addition to the above will be settled with the seller at the end of a defined period by means of debit note / credit note (post ¿ import</a:t>
                      </a:r>
                    </a:p>
                    <a:p>
                      <a:pPr>
                        <a:defRPr sz="1100"/>
                      </a:pPr>
                      <a:r>
                        <a:t>price adjustment), which are as per the contract attached as a supporting document.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</a:t>
                      </a:r>
                    </a:p>
                    <a:p>
                      <a:pPr>
                        <a:defRPr sz="1100"/>
                      </a:pPr>
                      <a:r>
                        <a:t>Declaration for 1/0: I/We declare that there are no payments actually paid or payable for the imported goods by way of cost and services [in</a:t>
                      </a:r>
                    </a:p>
                    <a:p>
                      <a:pPr>
                        <a:defRPr sz="1100"/>
                      </a:pPr>
                      <a:r>
                        <a:t>terms of Rules 10(1)(a)(i), Rule 10(1)(a)(ii), Rule 10 (1) (a) (iii) and Rule 10 (1) (b) of Customs Valuation Rules, 2007], Royalty / Licence Fee /</a:t>
                      </a:r>
                    </a:p>
                    <a:p>
                      <a:pPr>
                        <a:defRPr sz="1100"/>
                      </a:pPr>
                      <a:r>
                        <a:t>subsequent resale or use of goods /other payment as a condition of sale [(Please see Rule 10 (1) (c), (d) &amp; (e) of Customs Valuation Rules,</a:t>
                      </a:r>
                    </a:p>
                    <a:p>
                      <a:pPr>
                        <a:defRPr sz="1100"/>
                      </a:pPr>
                      <a:r>
                        <a:t>2007] other than those declared in the invoice which are mentioned as miscellaneous charges in this Bill of Entry.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